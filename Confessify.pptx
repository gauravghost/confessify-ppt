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59" r:id="rId7"/>
    <p:sldId id="261" r:id="rId8"/>
    <p:sldId id="271" r:id="rId9"/>
    <p:sldId id="270" r:id="rId10"/>
    <p:sldId id="265" r:id="rId11"/>
    <p:sldId id="267" r:id="rId12"/>
  </p:sldIdLst>
  <p:sldSz cx="9144000" cy="5143500"/>
  <p:notesSz cx="6858000" cy="9144000"/>
  <p:embeddedFontLst>
    <p:embeddedFont>
      <p:font typeface="Montserrat" panose="00000500000000000000"/>
      <p:regular r:id="rId16"/>
    </p:embeddedFont>
    <p:embeddedFont>
      <p:font typeface="Lato" panose="020F0502020204030203"/>
      <p:regular r:id="rId17"/>
    </p:embeddedFont>
    <p:embeddedFont>
      <p:font typeface="Playfair Display SemiBold"/>
      <p:italic r:id="rId18"/>
      <p:boldItalic r:id="rId19"/>
    </p:embeddedFont>
    <p:embeddedFont>
      <p:font typeface="Oswald Light"/>
      <p:regular r:id="rId20"/>
      <p:bold r:id="rId21"/>
    </p:embeddedFont>
    <p:embeddedFont>
      <p:font typeface="Playfair Display Black"/>
      <p:bold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DC04"/>
    <a:srgbClr val="C67409"/>
    <a:srgbClr val="E6E30C"/>
    <a:srgbClr val="8F46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40174672489"/>
          <c:y val="0.103344768439108"/>
          <c:w val="0.807860262008734"/>
          <c:h val="0.79331046312178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numRef>
              <c:f>Sheet1!$A$2:$A$5</c:f>
              <c:numCache>
                <c:ptCount val="0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40174672489"/>
          <c:y val="0.103344768439108"/>
          <c:w val="0.807860262008734"/>
          <c:h val="0.79331046312178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numRef>
              <c:f>Sheet1!$A$2:$A$5</c:f>
              <c:numCache>
                <c:ptCount val="0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40174672489"/>
          <c:y val="0.103344768439108"/>
          <c:w val="0.807860262008734"/>
          <c:h val="0.79331046312178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explosion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numRef>
              <c:f>Sheet1!$A$2:$A$5</c:f>
              <c:numCache>
                <c:ptCount val="0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40174672489"/>
          <c:y val="0.103344768439108"/>
          <c:w val="0.807860262008734"/>
          <c:h val="0.79331046312178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numRef>
              <c:f>Sheet1!$A$2:$A$5</c:f>
              <c:numCache>
                <c:ptCount val="0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40174672489"/>
          <c:y val="0.103344768439108"/>
          <c:w val="0.807860262008734"/>
          <c:h val="0.79331046312178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numRef>
              <c:f>Sheet1!$A$2:$A$5</c:f>
              <c:numCache>
                <c:ptCount val="0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40174672489"/>
          <c:y val="0.103344768439108"/>
          <c:w val="0.807860262008734"/>
          <c:h val="0.79331046312178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numRef>
              <c:f>Sheet1!$A$2:$A$5</c:f>
              <c:numCache>
                <c:ptCount val="0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0603a09e05_0_4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0603a09e05_0_4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603a09e05_0_5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603a09e05_0_5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0603a09e05_0_4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0603a09e05_0_4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603a09e05_0_5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0603a09e05_0_5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603a09e05_0_5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0603a09e05_0_5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0603a09e05_0_7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0603a09e05_0_7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0603a09e05_0_7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0603a09e05_0_7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0603a09e05_0_7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0603a09e05_0_7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3" name="Google Shape;103;p10"/>
          <p:cNvSpPr txBox="1"/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5" name="Google Shape;125;p11"/>
          <p:cNvSpPr txBox="1"/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 panose="020F0502020204030203"/>
              <a:buChar char="●"/>
              <a:defRPr sz="13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●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●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461010" y="802640"/>
            <a:ext cx="8221980" cy="5784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b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Confessify</a:t>
            </a:r>
            <a:endParaRPr lang="en-IN" altLang="en-US" b="1">
              <a:ln w="6600">
                <a:solidFill>
                  <a:schemeClr val="accent2"/>
                </a:solidFill>
                <a:prstDash val="solid"/>
              </a:ln>
              <a:solidFill>
                <a:schemeClr val="bg1">
                  <a:lumMod val="50000"/>
                </a:schemeClr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35" name="Google Shape;135;p13"/>
          <p:cNvSpPr txBox="1"/>
          <p:nvPr>
            <p:ph type="subTitle" idx="1"/>
          </p:nvPr>
        </p:nvSpPr>
        <p:spPr>
          <a:xfrm>
            <a:off x="6739890" y="3990975"/>
            <a:ext cx="2404110" cy="1254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cap="small">
                <a:solidFill>
                  <a:schemeClr val="bg2">
                    <a:lumMod val="1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Submitted by :-</a:t>
            </a:r>
            <a:endParaRPr sz="1600" b="1" cap="small">
              <a:solidFill>
                <a:schemeClr val="bg2">
                  <a:lumMod val="10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cap="small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Abhishek Kumar</a:t>
            </a:r>
            <a:r>
              <a:rPr lang="en-IN" altLang="en-GB" b="1" cap="small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GB" b="1" cap="small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(0112CS191009)</a:t>
            </a:r>
            <a:endParaRPr lang="en-GB" b="1" cap="small">
              <a:solidFill>
                <a:schemeClr val="bg1">
                  <a:lumMod val="50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b="1" cap="small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Drashi Jain (0112CS191043)</a:t>
            </a:r>
            <a:endParaRPr b="1" cap="small">
              <a:solidFill>
                <a:schemeClr val="bg1">
                  <a:lumMod val="50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cap="small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Gyanendra</a:t>
            </a:r>
            <a:r>
              <a:rPr lang="en-IN" altLang="en-GB" b="1" cap="small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Kumar</a:t>
            </a:r>
            <a:r>
              <a:rPr lang="en-GB" b="1" cap="small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(0112CS191043)</a:t>
            </a:r>
            <a:endParaRPr b="1" cap="small">
              <a:solidFill>
                <a:schemeClr val="bg1">
                  <a:lumMod val="50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b="1" cap="small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Koyna Khare </a:t>
            </a:r>
            <a:r>
              <a:rPr lang="en-GB" b="1" cap="small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(0112CS19110</a:t>
            </a:r>
            <a:r>
              <a:rPr lang="en-US" altLang="en-GB" b="1" cap="small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34</a:t>
            </a:r>
            <a:r>
              <a:rPr lang="en-GB" b="1" cap="small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b="1" cap="small">
              <a:solidFill>
                <a:schemeClr val="bg1">
                  <a:lumMod val="50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b="1" cap="small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Sandhya  </a:t>
            </a:r>
            <a:r>
              <a:rPr lang="en-GB" b="1" cap="small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(0112CS191</a:t>
            </a:r>
            <a:r>
              <a:rPr lang="en-GB" sz="1300" b="1" cap="small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074)</a:t>
            </a:r>
            <a:endParaRPr lang="en-GB" sz="1300" b="1" cap="small">
              <a:solidFill>
                <a:schemeClr val="bg1">
                  <a:lumMod val="50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6" name="Google Shape;136;p13"/>
          <p:cNvSpPr txBox="1"/>
          <p:nvPr>
            <p:ph type="ctrTitle"/>
          </p:nvPr>
        </p:nvSpPr>
        <p:spPr>
          <a:xfrm>
            <a:off x="166200" y="163675"/>
            <a:ext cx="88116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BANSAL INSTITUTE OF SCIENCE AND TECHNOLOGY BHOPAL (M.P)</a:t>
            </a:r>
            <a:endParaRPr sz="1800" b="1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DEPARTMENT OF  COMPUTER SCIENCE AND ENGINEERING</a:t>
            </a:r>
            <a:endParaRPr lang="en-GB" sz="1800" b="1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505075" y="1640714"/>
            <a:ext cx="4133849" cy="13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3"/>
          <p:cNvSpPr txBox="1"/>
          <p:nvPr>
            <p:ph type="ctrTitle"/>
          </p:nvPr>
        </p:nvSpPr>
        <p:spPr>
          <a:xfrm>
            <a:off x="2691450" y="3022800"/>
            <a:ext cx="37611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 b="1">
                <a:solidFill>
                  <a:srgbClr val="3C78D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B.Tech.  In Computer Science and Engineering</a:t>
            </a:r>
            <a:endParaRPr sz="1200" b="1">
              <a:solidFill>
                <a:srgbClr val="3C78D8"/>
              </a:solidFill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0" y="4177955"/>
            <a:ext cx="3000000" cy="965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bg2">
                    <a:lumMod val="25000"/>
                  </a:schemeClr>
                </a:solidFill>
              </a:rPr>
              <a:t>HOD</a:t>
            </a:r>
            <a:endParaRPr sz="1500" b="1">
              <a:solidFill>
                <a:schemeClr val="bg2">
                  <a:lumMod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bg2">
                    <a:lumMod val="50000"/>
                  </a:schemeClr>
                </a:solidFill>
              </a:rPr>
              <a:t>Prof. Manish Saxena</a:t>
            </a:r>
            <a:endParaRPr sz="1200">
              <a:solidFill>
                <a:schemeClr val="bg2">
                  <a:lumMod val="50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bg2">
                    <a:lumMod val="50000"/>
                  </a:schemeClr>
                </a:solidFill>
              </a:rPr>
              <a:t>(Asst. Professor, Dept. of CSE, B.I.S.T., Bhopal)</a:t>
            </a:r>
            <a:endParaRPr lang="en-GB" sz="12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3197550" y="4177955"/>
            <a:ext cx="2748900" cy="965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bg2">
                    <a:lumMod val="25000"/>
                  </a:schemeClr>
                </a:solidFill>
              </a:rPr>
              <a:t>GUIDE BY:</a:t>
            </a:r>
            <a:endParaRPr sz="1500" b="1">
              <a:solidFill>
                <a:schemeClr val="bg2">
                  <a:lumMod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bg2">
                    <a:lumMod val="50000"/>
                  </a:schemeClr>
                </a:solidFill>
              </a:rPr>
              <a:t>Prof.</a:t>
            </a:r>
            <a:r>
              <a:rPr lang="en-IN" altLang="en-GB" sz="1200">
                <a:solidFill>
                  <a:schemeClr val="bg2">
                    <a:lumMod val="50000"/>
                  </a:schemeClr>
                </a:solidFill>
              </a:rPr>
              <a:t> Anshu Tiwari</a:t>
            </a:r>
            <a:endParaRPr sz="1200">
              <a:solidFill>
                <a:schemeClr val="bg2">
                  <a:lumMod val="50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bg2">
                    <a:lumMod val="50000"/>
                  </a:schemeClr>
                </a:solidFill>
              </a:rPr>
              <a:t>(Asst. Professor, Dept. of CSE, </a:t>
            </a:r>
            <a:endParaRPr sz="1200">
              <a:solidFill>
                <a:schemeClr val="bg2">
                  <a:lumMod val="50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bg2">
                    <a:lumMod val="50000"/>
                  </a:schemeClr>
                </a:solidFill>
              </a:rPr>
              <a:t>B.I.S.T., Bhopal)</a:t>
            </a:r>
            <a:endParaRPr lang="en-GB" sz="120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134" grpId="0"/>
      <p:bldP spid="138" grpId="0"/>
      <p:bldP spid="139" grpId="0"/>
      <p:bldP spid="140" grpId="0"/>
      <p:bldP spid="135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11"/>
          <p:cNvGraphicFramePr/>
          <p:nvPr/>
        </p:nvGraphicFramePr>
        <p:xfrm>
          <a:off x="7344410" y="3335020"/>
          <a:ext cx="1799590" cy="1633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6" name="Google Shape;146;p1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47" name="Google Shape;147;p14"/>
          <p:cNvSpPr/>
          <p:nvPr/>
        </p:nvSpPr>
        <p:spPr>
          <a:xfrm>
            <a:off x="2745423" y="173355"/>
            <a:ext cx="3651885" cy="80772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2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Presentation Flow</a:t>
            </a:r>
            <a:endParaRPr lang="en-US" altLang="en-GB" sz="320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/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graphicFrame>
        <p:nvGraphicFramePr>
          <p:cNvPr id="3" name="Chart 2"/>
          <p:cNvGraphicFramePr/>
          <p:nvPr/>
        </p:nvGraphicFramePr>
        <p:xfrm>
          <a:off x="70485" y="1172210"/>
          <a:ext cx="1799590" cy="1633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307975" y="1835785"/>
            <a:ext cx="1324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Abstract</a:t>
            </a:r>
            <a:endParaRPr 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581900" y="3835400"/>
            <a:ext cx="132461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Conclusion and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algn="ctr"/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Scope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</p:txBody>
      </p:sp>
      <p:graphicFrame>
        <p:nvGraphicFramePr>
          <p:cNvPr id="8" name="Chart 7"/>
          <p:cNvGraphicFramePr/>
          <p:nvPr/>
        </p:nvGraphicFramePr>
        <p:xfrm>
          <a:off x="2531745" y="1172210"/>
          <a:ext cx="1799590" cy="1633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/>
          <p:nvPr/>
        </p:nvGraphicFramePr>
        <p:xfrm>
          <a:off x="7344410" y="1173480"/>
          <a:ext cx="1799590" cy="1633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Box 13"/>
          <p:cNvSpPr txBox="1"/>
          <p:nvPr/>
        </p:nvSpPr>
        <p:spPr>
          <a:xfrm>
            <a:off x="7581900" y="1837690"/>
            <a:ext cx="1324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Screenshot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</p:txBody>
      </p:sp>
      <p:graphicFrame>
        <p:nvGraphicFramePr>
          <p:cNvPr id="15" name="Chart 14"/>
          <p:cNvGraphicFramePr/>
          <p:nvPr/>
        </p:nvGraphicFramePr>
        <p:xfrm>
          <a:off x="4981575" y="1173480"/>
          <a:ext cx="1799590" cy="1633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Right Arrow 15"/>
          <p:cNvSpPr/>
          <p:nvPr/>
        </p:nvSpPr>
        <p:spPr>
          <a:xfrm>
            <a:off x="4269740" y="1786255"/>
            <a:ext cx="866775" cy="407670"/>
          </a:xfrm>
          <a:prstGeom prst="rightArrow">
            <a:avLst/>
          </a:prstGeom>
          <a:gradFill>
            <a:gsLst>
              <a:gs pos="0">
                <a:schemeClr val="tx1"/>
              </a:gs>
              <a:gs pos="66000">
                <a:schemeClr val="bg1">
                  <a:lumMod val="8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gradFill>
                <a:gsLst>
                  <a:gs pos="36000">
                    <a:srgbClr val="53575C"/>
                  </a:gs>
                  <a:gs pos="67000">
                    <a:srgbClr val="C5C7CA"/>
                  </a:gs>
                </a:gsLst>
                <a:lin ang="5400000" scaled="0"/>
              </a:gra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2788920" y="1835785"/>
            <a:ext cx="1324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Introduction</a:t>
            </a:r>
            <a:endParaRPr 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5219065" y="1621790"/>
            <a:ext cx="132461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Tools</a:t>
            </a:r>
            <a:endParaRPr 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algn="ctr"/>
            <a:r>
              <a:rPr 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and</a:t>
            </a:r>
            <a:endParaRPr 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algn="ctr"/>
            <a:r>
              <a:rPr 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Tech.</a:t>
            </a:r>
            <a:endParaRPr 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6683375" y="1786890"/>
            <a:ext cx="812800" cy="407670"/>
          </a:xfrm>
          <a:prstGeom prst="rightArrow">
            <a:avLst/>
          </a:prstGeom>
          <a:gradFill>
            <a:gsLst>
              <a:gs pos="0">
                <a:schemeClr val="tx1"/>
              </a:gs>
              <a:gs pos="66000">
                <a:schemeClr val="bg1">
                  <a:lumMod val="8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gradFill>
                <a:gsLst>
                  <a:gs pos="36000">
                    <a:srgbClr val="53575C"/>
                  </a:gs>
                  <a:gs pos="67000">
                    <a:srgbClr val="C5C7CA"/>
                  </a:gs>
                </a:gsLst>
                <a:lin ang="5400000" scaled="0"/>
              </a:gradFill>
            </a:endParaRPr>
          </a:p>
        </p:txBody>
      </p:sp>
      <p:sp>
        <p:nvSpPr>
          <p:cNvPr id="21" name="Right Arrow 20"/>
          <p:cNvSpPr/>
          <p:nvPr/>
        </p:nvSpPr>
        <p:spPr>
          <a:xfrm rot="5400000">
            <a:off x="7892415" y="2877185"/>
            <a:ext cx="703580" cy="407670"/>
          </a:xfrm>
          <a:prstGeom prst="rightArrow">
            <a:avLst/>
          </a:prstGeom>
          <a:gradFill>
            <a:gsLst>
              <a:gs pos="0">
                <a:schemeClr val="tx1"/>
              </a:gs>
              <a:gs pos="66000">
                <a:schemeClr val="bg1">
                  <a:lumMod val="8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gradFill>
                <a:gsLst>
                  <a:gs pos="36000">
                    <a:srgbClr val="53575C"/>
                  </a:gs>
                  <a:gs pos="67000">
                    <a:srgbClr val="C5C7CA"/>
                  </a:gs>
                </a:gsLst>
                <a:lin ang="5400000" scaled="0"/>
              </a:gradFill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1777365" y="1784985"/>
            <a:ext cx="866775" cy="407670"/>
          </a:xfrm>
          <a:prstGeom prst="rightArrow">
            <a:avLst/>
          </a:prstGeom>
          <a:gradFill>
            <a:gsLst>
              <a:gs pos="0">
                <a:schemeClr val="tx1"/>
              </a:gs>
              <a:gs pos="66000">
                <a:schemeClr val="bg1">
                  <a:lumMod val="8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gradFill>
                <a:gsLst>
                  <a:gs pos="36000">
                    <a:srgbClr val="53575C"/>
                  </a:gs>
                  <a:gs pos="67000">
                    <a:srgbClr val="C5C7CA"/>
                  </a:gs>
                </a:gsLst>
                <a:lin ang="5400000" scaled="0"/>
              </a:gradFill>
            </a:endParaRPr>
          </a:p>
        </p:txBody>
      </p:sp>
      <p:graphicFrame>
        <p:nvGraphicFramePr>
          <p:cNvPr id="1" name="Chart 0"/>
          <p:cNvGraphicFramePr/>
          <p:nvPr/>
        </p:nvGraphicFramePr>
        <p:xfrm>
          <a:off x="4981575" y="3335020"/>
          <a:ext cx="1799590" cy="1633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5219065" y="3999865"/>
            <a:ext cx="1324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Thank You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</p:txBody>
      </p:sp>
      <p:sp>
        <p:nvSpPr>
          <p:cNvPr id="4" name="Right Arrow 3"/>
          <p:cNvSpPr/>
          <p:nvPr/>
        </p:nvSpPr>
        <p:spPr>
          <a:xfrm rot="10800000">
            <a:off x="6792595" y="3999865"/>
            <a:ext cx="703580" cy="407670"/>
          </a:xfrm>
          <a:prstGeom prst="rightArrow">
            <a:avLst/>
          </a:prstGeom>
          <a:gradFill>
            <a:gsLst>
              <a:gs pos="0">
                <a:schemeClr val="tx1"/>
              </a:gs>
              <a:gs pos="66000">
                <a:schemeClr val="bg1">
                  <a:lumMod val="8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gradFill>
                <a:gsLst>
                  <a:gs pos="36000">
                    <a:srgbClr val="53575C"/>
                  </a:gs>
                  <a:gs pos="67000">
                    <a:srgbClr val="C5C7CA"/>
                  </a:gs>
                </a:gsLst>
                <a:lin ang="5400000" scaled="0"/>
              </a:gra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 animBg="1"/>
      <p:bldP spid="18" grpId="0"/>
      <p:bldP spid="16" grpId="0" animBg="1"/>
      <p:bldP spid="19" grpId="0"/>
      <p:bldP spid="20" grpId="0" animBg="1"/>
      <p:bldP spid="14" grpId="0"/>
      <p:bldP spid="21" grpId="0" animBg="1"/>
      <p:bldP spid="7" grpId="0"/>
      <p:bldP spid="147" grpId="0" bldLvl="0" animBg="1"/>
      <p:bldP spid="2" grpId="0"/>
      <p:bldP spid="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61" name="Google Shape;161;p16"/>
          <p:cNvSpPr/>
          <p:nvPr/>
        </p:nvSpPr>
        <p:spPr>
          <a:xfrm>
            <a:off x="3129450" y="173100"/>
            <a:ext cx="2885100" cy="8079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2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Abstract</a:t>
            </a:r>
            <a:endParaRPr lang="en-US" altLang="en-GB" sz="3200">
              <a:gradFill>
                <a:gsLst>
                  <a:gs pos="36000">
                    <a:srgbClr val="53575C"/>
                  </a:gs>
                  <a:gs pos="67000">
                    <a:srgbClr val="C5C7CA"/>
                  </a:gs>
                </a:gsLst>
                <a:lin ang="5400000"/>
              </a:gradFill>
              <a:effectLst/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5" name="Round Single Corner Rectangle 4"/>
          <p:cNvSpPr/>
          <p:nvPr/>
        </p:nvSpPr>
        <p:spPr>
          <a:xfrm>
            <a:off x="1042670" y="1529080"/>
            <a:ext cx="7058660" cy="3088640"/>
          </a:xfrm>
          <a:prstGeom prst="round1Rect">
            <a:avLst>
              <a:gd name="adj" fmla="val 21217"/>
            </a:avLst>
          </a:prstGeom>
          <a:noFill/>
          <a:ln w="12700" cmpd="sng"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>
                <a:latin typeface="Oswald Light"/>
                <a:ea typeface="Oswald Light"/>
                <a:cs typeface="Oswald Light"/>
                <a:sym typeface="Oswald Light"/>
              </a:rPr>
              <a:t>Anonymous confession apps are a relatively new type of social media application that has become increasingly popular in recent years.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IN">
                <a:latin typeface="Oswald Light"/>
                <a:ea typeface="Oswald Light"/>
                <a:cs typeface="Oswald Light"/>
                <a:sym typeface="Oswald Light"/>
              </a:rPr>
              <a:t>Confessify</a:t>
            </a:r>
            <a:r>
              <a:rPr>
                <a:latin typeface="Oswald Light"/>
                <a:ea typeface="Oswald Light"/>
                <a:cs typeface="Oswald Light"/>
                <a:sym typeface="Oswald Light"/>
              </a:rPr>
              <a:t> project aims to provide a safe and non-judgmental space for users to share their personal experiences and seek support. </a:t>
            </a:r>
            <a:endParaRPr>
              <a:latin typeface="Oswald Light"/>
              <a:ea typeface="Oswald Light"/>
              <a:cs typeface="Oswald Light"/>
              <a:sym typeface="Oswald Light"/>
            </a:endParaRPr>
          </a:p>
          <a:p>
            <a:pPr marL="457200" lvl="0" indent="-323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GB">
                <a:latin typeface="Oswald Light"/>
                <a:ea typeface="Oswald Light"/>
                <a:cs typeface="Oswald Light"/>
                <a:sym typeface="Oswald Light"/>
              </a:rPr>
              <a:t>It has given us a better understanding of </a:t>
            </a:r>
            <a:r>
              <a:rPr lang="en-US" altLang="en-GB" sz="1200" b="1">
                <a:latin typeface="Oswald Light"/>
                <a:ea typeface="Oswald Light"/>
                <a:cs typeface="Oswald Light"/>
                <a:sym typeface="Oswald Light"/>
              </a:rPr>
              <a:t>React </a:t>
            </a:r>
            <a:r>
              <a:rPr lang="en-IN" altLang="en-US" sz="1200" b="1">
                <a:latin typeface="Oswald Light"/>
                <a:ea typeface="Oswald Light"/>
                <a:cs typeface="Oswald Light"/>
                <a:sym typeface="Oswald Light"/>
              </a:rPr>
              <a:t>JS</a:t>
            </a:r>
            <a:r>
              <a:rPr lang="en-US" altLang="en-GB" sz="1200" b="1">
                <a:latin typeface="Oswald Light"/>
                <a:ea typeface="Oswald Light"/>
                <a:cs typeface="Oswald Light"/>
                <a:sym typeface="Oswald Light"/>
              </a:rPr>
              <a:t>, </a:t>
            </a:r>
            <a:r>
              <a:rPr lang="en-IN" altLang="en-US" sz="1200" b="1">
                <a:latin typeface="Oswald Light"/>
                <a:ea typeface="Oswald Light"/>
                <a:cs typeface="Oswald Light"/>
                <a:sym typeface="Oswald Light"/>
              </a:rPr>
              <a:t>React Redux </a:t>
            </a:r>
            <a:r>
              <a:rPr lang="en-US" altLang="en-GB" sz="1200" b="1">
                <a:latin typeface="Oswald Light"/>
                <a:ea typeface="Oswald Light"/>
                <a:cs typeface="Oswald Light"/>
                <a:sym typeface="Oswald Light"/>
              </a:rPr>
              <a:t>, Authentication, </a:t>
            </a:r>
            <a:r>
              <a:rPr lang="en-IN" altLang="en-US" sz="1200" b="1">
                <a:latin typeface="Oswald Light"/>
                <a:ea typeface="Oswald Light"/>
                <a:cs typeface="Oswald Light"/>
                <a:sym typeface="Oswald Light"/>
              </a:rPr>
              <a:t>MongoDB</a:t>
            </a:r>
            <a:r>
              <a:rPr lang="en-US" altLang="en-GB" sz="1200" b="1">
                <a:latin typeface="Oswald Light"/>
                <a:ea typeface="Oswald Light"/>
                <a:cs typeface="Oswald Light"/>
                <a:sym typeface="Oswald Light"/>
              </a:rPr>
              <a:t>, </a:t>
            </a:r>
            <a:r>
              <a:rPr lang="en-IN" altLang="en-US" sz="1200" b="1">
                <a:latin typeface="Oswald Light"/>
                <a:ea typeface="Oswald Light"/>
                <a:cs typeface="Oswald Light"/>
                <a:sym typeface="Oswald Light"/>
              </a:rPr>
              <a:t>Expresss JS, Node JS</a:t>
            </a:r>
            <a:r>
              <a:rPr lang="en-GB" sz="1200" b="1">
                <a:latin typeface="Oswald Light"/>
                <a:ea typeface="Oswald Light"/>
                <a:cs typeface="Oswald Light"/>
                <a:sym typeface="Oswald Light"/>
              </a:rPr>
              <a:t>.</a:t>
            </a:r>
            <a:endParaRPr lang="en-GB" sz="1200" b="1">
              <a:latin typeface="Oswald Light"/>
              <a:ea typeface="Oswald Light"/>
              <a:cs typeface="Oswald Light"/>
              <a:sym typeface="Oswald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61" name="Google Shape;161;p16"/>
          <p:cNvSpPr/>
          <p:nvPr/>
        </p:nvSpPr>
        <p:spPr>
          <a:xfrm>
            <a:off x="3122465" y="173100"/>
            <a:ext cx="2885100" cy="8079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2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Introduction</a:t>
            </a:r>
            <a:endParaRPr lang="en-GB" sz="3200">
              <a:gradFill>
                <a:gsLst>
                  <a:gs pos="36000">
                    <a:srgbClr val="53575C"/>
                  </a:gs>
                  <a:gs pos="67000">
                    <a:srgbClr val="C5C7CA"/>
                  </a:gs>
                </a:gsLst>
                <a:lin ang="5400000"/>
              </a:gradFill>
              <a:effectLst/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2" name="Round Single Corner Rectangle 1"/>
          <p:cNvSpPr/>
          <p:nvPr/>
        </p:nvSpPr>
        <p:spPr>
          <a:xfrm>
            <a:off x="926465" y="1637030"/>
            <a:ext cx="7276465" cy="3027045"/>
          </a:xfrm>
          <a:prstGeom prst="round1Rect">
            <a:avLst/>
          </a:prstGeom>
          <a:solidFill>
            <a:schemeClr val="bg1"/>
          </a:solidFill>
          <a:ln w="12700" cmpd="dbl">
            <a:solidFill>
              <a:schemeClr val="tx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marL="457200" lvl="0" indent="-323850" algn="just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>
                <a:latin typeface="Oswald Light"/>
                <a:ea typeface="Oswald Light"/>
                <a:cs typeface="Oswald Light"/>
                <a:sym typeface="+mn-ea"/>
              </a:rPr>
              <a:t>Confessify is an Social media application.</a:t>
            </a:r>
            <a:r>
              <a:rPr>
                <a:latin typeface="Oswald Light"/>
                <a:ea typeface="Oswald Light"/>
                <a:cs typeface="Oswald Light"/>
              </a:rPr>
              <a:t>It is single page Application made using MERN.</a:t>
            </a:r>
            <a:endParaRPr>
              <a:latin typeface="Oswald Light"/>
              <a:ea typeface="Oswald Light"/>
              <a:cs typeface="Oswald Light"/>
            </a:endParaRPr>
          </a:p>
          <a:p>
            <a:pPr marL="457200" lvl="0" indent="-323850" algn="just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>
                <a:latin typeface="Oswald Light"/>
                <a:ea typeface="Oswald Light"/>
                <a:cs typeface="Oswald Light"/>
              </a:rPr>
              <a:t>There is Login/Logout feature</a:t>
            </a:r>
            <a:r>
              <a:rPr lang="en-IN">
                <a:latin typeface="Oswald Light"/>
                <a:ea typeface="Oswald Light"/>
                <a:cs typeface="Oswald Light"/>
              </a:rPr>
              <a:t> with jwt.</a:t>
            </a:r>
            <a:endParaRPr>
              <a:latin typeface="Oswald Light"/>
              <a:ea typeface="Oswald Light"/>
              <a:cs typeface="Oswald Light"/>
            </a:endParaRPr>
          </a:p>
          <a:p>
            <a:pPr marL="457200" lvl="0" indent="-323850" algn="just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>
                <a:latin typeface="Oswald Light"/>
                <a:ea typeface="Oswald Light"/>
                <a:cs typeface="Oswald Light"/>
              </a:rPr>
              <a:t>User can post confession as anonymous or as normal user too.</a:t>
            </a:r>
            <a:endParaRPr>
              <a:latin typeface="Oswald Light"/>
              <a:ea typeface="Oswald Light"/>
              <a:cs typeface="Oswald Light"/>
            </a:endParaRPr>
          </a:p>
          <a:p>
            <a:pPr marL="457200" lvl="0" indent="-323850" algn="just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>
                <a:latin typeface="Oswald Light"/>
                <a:ea typeface="Oswald Light"/>
                <a:cs typeface="Oswald Light"/>
              </a:rPr>
              <a:t>User can edit, delete and update the post and has like and comment features.</a:t>
            </a:r>
            <a:endParaRPr>
              <a:latin typeface="Oswald Light"/>
              <a:ea typeface="Oswald Light"/>
              <a:cs typeface="Oswald Light"/>
            </a:endParaRPr>
          </a:p>
          <a:p>
            <a:pPr marL="457200" lvl="0" indent="-323850" algn="just">
              <a:lnSpc>
                <a:spcPct val="150000"/>
              </a:lnSpc>
              <a:buSzPts val="1500"/>
              <a:buFont typeface="Arial" panose="020B0604020202020204" pitchFamily="34" charset="0"/>
              <a:buChar char="•"/>
            </a:pPr>
            <a:r>
              <a:rPr>
                <a:latin typeface="Oswald Light"/>
                <a:ea typeface="Oswald Light"/>
                <a:cs typeface="Oswald Light"/>
              </a:rPr>
              <a:t>User can follow other user</a:t>
            </a:r>
            <a:r>
              <a:rPr lang="en-IN">
                <a:latin typeface="Oswald Light"/>
                <a:ea typeface="Oswald Light"/>
                <a:cs typeface="Oswald Light"/>
              </a:rPr>
              <a:t> </a:t>
            </a:r>
            <a:r>
              <a:rPr>
                <a:latin typeface="Oswald Light"/>
                <a:ea typeface="Oswald Light"/>
                <a:cs typeface="Oswald Light"/>
              </a:rPr>
              <a:t>and unfollow user.</a:t>
            </a:r>
            <a:endParaRPr>
              <a:latin typeface="Oswald Light"/>
              <a:ea typeface="Oswald Light"/>
              <a:cs typeface="Oswald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61" name="Google Shape;161;p16"/>
          <p:cNvSpPr/>
          <p:nvPr/>
        </p:nvSpPr>
        <p:spPr>
          <a:xfrm>
            <a:off x="2373948" y="173355"/>
            <a:ext cx="4396105" cy="80772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2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Tools and Technology</a:t>
            </a:r>
            <a:endParaRPr lang="en-US" altLang="en-GB" sz="3200">
              <a:gradFill>
                <a:gsLst>
                  <a:gs pos="36000">
                    <a:srgbClr val="53575C"/>
                  </a:gs>
                  <a:gs pos="67000">
                    <a:srgbClr val="C5C7CA"/>
                  </a:gs>
                </a:gsLst>
                <a:lin ang="5400000"/>
              </a:gradFill>
              <a:effectLst/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3" name="Round Single Corner Rectangle 2"/>
          <p:cNvSpPr/>
          <p:nvPr/>
        </p:nvSpPr>
        <p:spPr>
          <a:xfrm>
            <a:off x="186055" y="1087755"/>
            <a:ext cx="8883650" cy="4065270"/>
          </a:xfrm>
          <a:prstGeom prst="round1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l"/>
            <a:endParaRPr lang="en-US">
              <a:solidFill>
                <a:schemeClr val="bg2"/>
              </a:solidFill>
            </a:endParaRPr>
          </a:p>
        </p:txBody>
      </p:sp>
      <p:pic>
        <p:nvPicPr>
          <p:cNvPr id="6" name="Picture 5" descr="javascrip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910" y="3531235"/>
            <a:ext cx="777240" cy="777240"/>
          </a:xfrm>
          <a:prstGeom prst="rect">
            <a:avLst/>
          </a:prstGeom>
        </p:spPr>
      </p:pic>
      <p:pic>
        <p:nvPicPr>
          <p:cNvPr id="7" name="Picture 6" descr="n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0" y="2753995"/>
            <a:ext cx="777240" cy="777240"/>
          </a:xfrm>
          <a:prstGeom prst="rect">
            <a:avLst/>
          </a:prstGeom>
        </p:spPr>
      </p:pic>
      <p:pic>
        <p:nvPicPr>
          <p:cNvPr id="8" name="Picture 7" descr="reactH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20" y="1130935"/>
            <a:ext cx="836295" cy="836295"/>
          </a:xfrm>
          <a:prstGeom prst="rect">
            <a:avLst/>
          </a:prstGeom>
        </p:spPr>
      </p:pic>
      <p:pic>
        <p:nvPicPr>
          <p:cNvPr id="9" name="Picture 8" descr="redu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0385" y="1967230"/>
            <a:ext cx="786765" cy="786765"/>
          </a:xfrm>
          <a:prstGeom prst="rect">
            <a:avLst/>
          </a:prstGeom>
        </p:spPr>
      </p:pic>
      <p:pic>
        <p:nvPicPr>
          <p:cNvPr id="10" name="Picture 9" descr="kisspng-firebase-software-development-kit-application-prog-best-5ac2960bdd91b6.6805707215227018359076"/>
          <p:cNvPicPr>
            <a:picLocks noChangeAspect="1"/>
          </p:cNvPicPr>
          <p:nvPr/>
        </p:nvPicPr>
        <p:blipFill>
          <a:blip r:embed="rId6"/>
          <a:srcRect l="14347" t="28472" r="69530" b="29889"/>
          <a:stretch>
            <a:fillRect/>
          </a:stretch>
        </p:blipFill>
        <p:spPr>
          <a:xfrm>
            <a:off x="352425" y="4230370"/>
            <a:ext cx="553085" cy="61595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558925" y="2130425"/>
            <a:ext cx="6497955" cy="460375"/>
          </a:xfrm>
          <a:prstGeom prst="rect">
            <a:avLst/>
          </a:prstGeom>
          <a:ln w="12700" cmpd="sng">
            <a:gradFill>
              <a:gsLst>
                <a:gs pos="0">
                  <a:schemeClr val="bg2">
                    <a:lumMod val="90000"/>
                  </a:schemeClr>
                </a:gs>
                <a:gs pos="74000">
                  <a:schemeClr val="bg2">
                    <a:lumMod val="50000"/>
                  </a:schemeClr>
                </a:gs>
                <a:gs pos="83000">
                  <a:schemeClr val="bg2">
                    <a:lumMod val="5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p>
            <a:pPr lvl="0" algn="just">
              <a:buSzTx/>
            </a:pPr>
            <a:r>
              <a:rPr lang="en-US" sz="1000" b="1">
                <a:sym typeface="+mn-ea"/>
              </a:rPr>
              <a:t>Redux</a:t>
            </a:r>
            <a:r>
              <a:rPr lang="en-US" sz="1200">
                <a:sym typeface="+mn-ea"/>
              </a:rPr>
              <a:t> is used mostly for application state management. Redux can be used as a data store for any </a:t>
            </a:r>
            <a:r>
              <a:rPr lang="en-US" sz="1200">
                <a:sym typeface="+mn-ea"/>
              </a:rPr>
              <a:t>UI </a:t>
            </a:r>
            <a:r>
              <a:rPr lang="en-US" sz="1200">
                <a:sym typeface="+mn-ea"/>
              </a:rPr>
              <a:t>layer.</a:t>
            </a:r>
            <a:endParaRPr lang="en-US" sz="1200"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198880" y="1226185"/>
            <a:ext cx="6490970" cy="645160"/>
          </a:xfrm>
          <a:prstGeom prst="rect">
            <a:avLst/>
          </a:prstGeom>
          <a:ln w="12700" cmpd="sng">
            <a:gradFill>
              <a:gsLst>
                <a:gs pos="0">
                  <a:schemeClr val="bg2">
                    <a:lumMod val="90000"/>
                  </a:schemeClr>
                </a:gs>
                <a:gs pos="74000">
                  <a:schemeClr val="bg2">
                    <a:lumMod val="50000"/>
                  </a:schemeClr>
                </a:gs>
                <a:gs pos="83000">
                  <a:schemeClr val="bg2">
                    <a:lumMod val="5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p>
            <a:pPr lvl="0" algn="just">
              <a:buSzTx/>
            </a:pPr>
            <a:r>
              <a:rPr lang="en-US" sz="1000" b="1">
                <a:sym typeface="+mn-ea"/>
              </a:rPr>
              <a:t>React. js</a:t>
            </a:r>
            <a:r>
              <a:rPr lang="en-US" sz="1000" b="1">
                <a:sym typeface="+mn-ea"/>
              </a:rPr>
              <a:t> </a:t>
            </a:r>
            <a:r>
              <a:rPr lang="en-US" sz="1200">
                <a:sym typeface="+mn-ea"/>
              </a:rPr>
              <a:t>is an open-source JavaScript library that is used for building user interfaces specifically for single-page applications. It's used for handling the view layer for web and mobile apps. React also allows us to create reusable UI components.</a:t>
            </a:r>
            <a:endParaRPr lang="en-US" sz="1200"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198880" y="2912110"/>
            <a:ext cx="6490970" cy="460375"/>
          </a:xfrm>
          <a:prstGeom prst="rect">
            <a:avLst/>
          </a:prstGeom>
          <a:ln w="12700" cmpd="sng">
            <a:gradFill>
              <a:gsLst>
                <a:gs pos="0">
                  <a:schemeClr val="bg2">
                    <a:lumMod val="90000"/>
                  </a:schemeClr>
                </a:gs>
                <a:gs pos="74000">
                  <a:schemeClr val="bg2">
                    <a:lumMod val="50000"/>
                  </a:schemeClr>
                </a:gs>
                <a:gs pos="83000">
                  <a:schemeClr val="bg2">
                    <a:lumMod val="5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just"/>
            <a:r>
              <a:rPr lang="en-US" sz="1000" b="1"/>
              <a:t>Node.js</a:t>
            </a:r>
            <a:r>
              <a:rPr lang="en-US" sz="1200"/>
              <a:t> is</a:t>
            </a:r>
            <a:r>
              <a:rPr lang="en-US" sz="1200">
                <a:ln>
                  <a:solidFill>
                    <a:schemeClr val="tx1"/>
                  </a:solidFill>
                </a:ln>
              </a:rPr>
              <a:t> </a:t>
            </a:r>
            <a:r>
              <a:rPr lang="en-US" sz="1200"/>
              <a:t>an open-source Chrome’s Javascript runtime environment – allows you to develop scalable web applications effortlessly.</a:t>
            </a:r>
            <a:endParaRPr lang="en-US" sz="1200"/>
          </a:p>
        </p:txBody>
      </p:sp>
      <p:sp>
        <p:nvSpPr>
          <p:cNvPr id="14" name="Text Box 13"/>
          <p:cNvSpPr txBox="1"/>
          <p:nvPr/>
        </p:nvSpPr>
        <p:spPr>
          <a:xfrm>
            <a:off x="1559560" y="3597910"/>
            <a:ext cx="6497320" cy="645160"/>
          </a:xfrm>
          <a:prstGeom prst="rect">
            <a:avLst/>
          </a:prstGeom>
          <a:ln w="12700" cmpd="sng">
            <a:gradFill>
              <a:gsLst>
                <a:gs pos="0">
                  <a:schemeClr val="bg2">
                    <a:lumMod val="90000"/>
                  </a:schemeClr>
                </a:gs>
                <a:gs pos="74000">
                  <a:schemeClr val="bg2">
                    <a:lumMod val="50000"/>
                  </a:schemeClr>
                </a:gs>
                <a:gs pos="83000">
                  <a:schemeClr val="bg2">
                    <a:lumMod val="5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p>
            <a:pPr lvl="0" algn="just">
              <a:buSzTx/>
            </a:pPr>
            <a:r>
              <a:rPr lang="en-US" sz="1000" b="1">
                <a:sym typeface="+mn-ea"/>
              </a:rPr>
              <a:t>JavaScript</a:t>
            </a:r>
            <a:r>
              <a:rPr lang="en-US" sz="1200">
                <a:sym typeface="+mn-ea"/>
              </a:rPr>
              <a:t> is a light-weight object-oriented programming language that is used by several websites for scripting the webpages. It</a:t>
            </a:r>
            <a:r>
              <a:rPr lang="en-US" sz="1200">
                <a:sym typeface="+mn-ea"/>
              </a:rPr>
              <a:t> is used to create dynamic and interactive web content.</a:t>
            </a:r>
            <a:endParaRPr lang="en-US" sz="1200"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198880" y="4416425"/>
            <a:ext cx="6490970" cy="460375"/>
          </a:xfrm>
          <a:prstGeom prst="rect">
            <a:avLst/>
          </a:prstGeom>
          <a:ln w="12700" cmpd="sng">
            <a:gradFill>
              <a:gsLst>
                <a:gs pos="0">
                  <a:schemeClr val="bg2">
                    <a:lumMod val="90000"/>
                  </a:schemeClr>
                </a:gs>
                <a:gs pos="74000">
                  <a:schemeClr val="bg2">
                    <a:lumMod val="50000"/>
                  </a:schemeClr>
                </a:gs>
                <a:gs pos="83000">
                  <a:schemeClr val="bg2">
                    <a:lumMod val="5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p>
            <a:pPr lvl="0" algn="just">
              <a:buSzTx/>
            </a:pPr>
            <a:r>
              <a:rPr lang="en-US" sz="1000" b="1">
                <a:sym typeface="+mn-ea"/>
              </a:rPr>
              <a:t>The Firebase</a:t>
            </a:r>
            <a:r>
              <a:rPr lang="en-US" sz="1000">
                <a:sym typeface="+mn-ea"/>
              </a:rPr>
              <a:t> </a:t>
            </a:r>
            <a:r>
              <a:rPr lang="en-US" sz="1200">
                <a:sym typeface="+mn-ea"/>
              </a:rPr>
              <a:t>Realtime Database lets you build rich, collaborative applications by allowing secure access to the database directly from client-side code.</a:t>
            </a:r>
            <a:endParaRPr lang="en-US" sz="1200">
              <a:sym typeface="+mn-ea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200025" y="1871345"/>
            <a:ext cx="960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solidFill>
                  <a:srgbClr val="00B0F0"/>
                </a:solidFill>
              </a:rPr>
              <a:t>React js</a:t>
            </a:r>
            <a:endParaRPr lang="en-US" sz="1200" b="1">
              <a:solidFill>
                <a:srgbClr val="00B0F0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8129270" y="2700020"/>
            <a:ext cx="8591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solidFill>
                  <a:srgbClr val="8F46C8"/>
                </a:solidFill>
              </a:rPr>
              <a:t>Redux</a:t>
            </a:r>
            <a:endParaRPr lang="en-US" b="1">
              <a:solidFill>
                <a:srgbClr val="8F46C8"/>
              </a:soli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8026400" y="4230370"/>
            <a:ext cx="10642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1200" b="1">
                <a:solidFill>
                  <a:srgbClr val="23DC04"/>
                </a:solidFill>
              </a:rPr>
              <a:t>MongoDB</a:t>
            </a:r>
            <a:endParaRPr lang="en-IN" altLang="en-US" sz="1200" b="1">
              <a:solidFill>
                <a:srgbClr val="23DC04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220345" y="3466465"/>
            <a:ext cx="8591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solidFill>
                  <a:srgbClr val="00B050"/>
                </a:solidFill>
              </a:rPr>
              <a:t>Node JS</a:t>
            </a:r>
            <a:endParaRPr lang="en-US" sz="1200" b="1">
              <a:solidFill>
                <a:srgbClr val="00B050"/>
              </a:solidFill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0" y="4836795"/>
            <a:ext cx="12388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b="1">
                <a:solidFill>
                  <a:srgbClr val="C67409"/>
                </a:solidFill>
              </a:rPr>
              <a:t>Express JS</a:t>
            </a:r>
            <a:endParaRPr lang="en-IN" altLang="en-US" b="1">
              <a:solidFill>
                <a:srgbClr val="C67409"/>
              </a:solidFill>
            </a:endParaRPr>
          </a:p>
        </p:txBody>
      </p:sp>
      <p:pic>
        <p:nvPicPr>
          <p:cNvPr id="21" name="Picture 20" descr="reactH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20" y="1130935"/>
            <a:ext cx="836295" cy="83629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198880" y="1226185"/>
            <a:ext cx="6490970" cy="645160"/>
          </a:xfrm>
          <a:prstGeom prst="rect">
            <a:avLst/>
          </a:prstGeom>
          <a:ln w="12700" cmpd="sng">
            <a:gradFill>
              <a:gsLst>
                <a:gs pos="0">
                  <a:schemeClr val="bg2">
                    <a:lumMod val="90000"/>
                  </a:schemeClr>
                </a:gs>
                <a:gs pos="74000">
                  <a:schemeClr val="bg2">
                    <a:lumMod val="50000"/>
                  </a:schemeClr>
                </a:gs>
                <a:gs pos="83000">
                  <a:schemeClr val="bg2">
                    <a:lumMod val="5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p>
            <a:pPr lvl="0" algn="just">
              <a:buSzTx/>
            </a:pPr>
            <a:r>
              <a:rPr lang="en-US" sz="1000" b="1">
                <a:sym typeface="+mn-ea"/>
              </a:rPr>
              <a:t>React. js</a:t>
            </a:r>
            <a:r>
              <a:rPr lang="en-US" sz="1000" b="1">
                <a:sym typeface="+mn-ea"/>
              </a:rPr>
              <a:t> </a:t>
            </a:r>
            <a:r>
              <a:rPr lang="en-US" sz="1200">
                <a:sym typeface="+mn-ea"/>
              </a:rPr>
              <a:t>is an open-source JavaScript library that is used for building user interfaces specifically for single-page applications. It's used for handling the view layer for web and mobile apps. React also allows us to create reusable UI components.</a:t>
            </a:r>
            <a:endParaRPr lang="en-US" sz="120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00025" y="1871345"/>
            <a:ext cx="960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solidFill>
                  <a:srgbClr val="00B0F0"/>
                </a:solidFill>
              </a:rPr>
              <a:t>React js</a:t>
            </a:r>
            <a:endParaRPr lang="en-US" sz="1200" b="1">
              <a:solidFill>
                <a:srgbClr val="00B0F0"/>
              </a:solidFill>
            </a:endParaRPr>
          </a:p>
        </p:txBody>
      </p:sp>
      <p:pic>
        <p:nvPicPr>
          <p:cNvPr id="5" name="Picture 4" descr="reactH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20" y="1130935"/>
            <a:ext cx="836295" cy="836295"/>
          </a:xfrm>
          <a:prstGeom prst="rect">
            <a:avLst/>
          </a:prstGeom>
        </p:spPr>
      </p:pic>
      <p:sp>
        <p:nvSpPr>
          <p:cNvPr id="22" name="Text Box 21"/>
          <p:cNvSpPr txBox="1"/>
          <p:nvPr/>
        </p:nvSpPr>
        <p:spPr>
          <a:xfrm>
            <a:off x="1198880" y="1226185"/>
            <a:ext cx="6490970" cy="645160"/>
          </a:xfrm>
          <a:prstGeom prst="rect">
            <a:avLst/>
          </a:prstGeom>
          <a:ln w="12700" cmpd="sng">
            <a:gradFill>
              <a:gsLst>
                <a:gs pos="0">
                  <a:schemeClr val="bg2">
                    <a:lumMod val="90000"/>
                  </a:schemeClr>
                </a:gs>
                <a:gs pos="74000">
                  <a:schemeClr val="bg2">
                    <a:lumMod val="50000"/>
                  </a:schemeClr>
                </a:gs>
                <a:gs pos="83000">
                  <a:schemeClr val="bg2">
                    <a:lumMod val="5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p>
            <a:pPr lvl="0" algn="just">
              <a:buSzTx/>
            </a:pPr>
            <a:r>
              <a:rPr lang="en-US" sz="1000" b="1">
                <a:sym typeface="+mn-ea"/>
              </a:rPr>
              <a:t>React. js</a:t>
            </a:r>
            <a:r>
              <a:rPr lang="en-US" sz="1000" b="1">
                <a:sym typeface="+mn-ea"/>
              </a:rPr>
              <a:t> </a:t>
            </a:r>
            <a:r>
              <a:rPr lang="en-US" sz="1200">
                <a:sym typeface="+mn-ea"/>
              </a:rPr>
              <a:t>is an open-source JavaScript library that is used for building user interfaces specifically for single-page applications. It's used for handling the view layer for web and mobile apps. React also allows us to create reusable UI components.</a:t>
            </a:r>
            <a:endParaRPr lang="en-US" sz="1200">
              <a:sym typeface="+mn-ea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200025" y="1871345"/>
            <a:ext cx="960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solidFill>
                  <a:srgbClr val="00B0F0"/>
                </a:solidFill>
              </a:rPr>
              <a:t>React js</a:t>
            </a:r>
            <a:endParaRPr lang="en-US" sz="1200" b="1">
              <a:solidFill>
                <a:srgbClr val="00B0F0"/>
              </a:solidFill>
            </a:endParaRPr>
          </a:p>
        </p:txBody>
      </p:sp>
      <p:pic>
        <p:nvPicPr>
          <p:cNvPr id="24" name="Picture 23" descr="reactH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20" y="1130935"/>
            <a:ext cx="836295" cy="836295"/>
          </a:xfrm>
          <a:prstGeom prst="rect">
            <a:avLst/>
          </a:prstGeom>
        </p:spPr>
      </p:pic>
      <p:pic>
        <p:nvPicPr>
          <p:cNvPr id="25" name="Picture 24" descr="javascrip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910" y="3531235"/>
            <a:ext cx="777240" cy="777240"/>
          </a:xfrm>
          <a:prstGeom prst="rect">
            <a:avLst/>
          </a:prstGeom>
        </p:spPr>
      </p:pic>
      <p:pic>
        <p:nvPicPr>
          <p:cNvPr id="26" name="Picture 25" descr="n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0" y="2753995"/>
            <a:ext cx="777240" cy="777240"/>
          </a:xfrm>
          <a:prstGeom prst="rect">
            <a:avLst/>
          </a:prstGeom>
        </p:spPr>
      </p:pic>
      <p:pic>
        <p:nvPicPr>
          <p:cNvPr id="27" name="Picture 26" descr="kisspng-firebase-software-development-kit-application-prog-best-5ac2960bdd91b6.6805707215227018359076"/>
          <p:cNvPicPr>
            <a:picLocks noChangeAspect="1"/>
          </p:cNvPicPr>
          <p:nvPr/>
        </p:nvPicPr>
        <p:blipFill>
          <a:blip r:embed="rId6"/>
          <a:srcRect l="14347" t="28472" r="69530" b="29889"/>
          <a:stretch>
            <a:fillRect/>
          </a:stretch>
        </p:blipFill>
        <p:spPr>
          <a:xfrm>
            <a:off x="352425" y="4230370"/>
            <a:ext cx="553085" cy="615950"/>
          </a:xfrm>
          <a:prstGeom prst="rect">
            <a:avLst/>
          </a:prstGeom>
        </p:spPr>
      </p:pic>
      <p:sp>
        <p:nvSpPr>
          <p:cNvPr id="28" name="Text Box 27"/>
          <p:cNvSpPr txBox="1"/>
          <p:nvPr/>
        </p:nvSpPr>
        <p:spPr>
          <a:xfrm>
            <a:off x="1198880" y="2912110"/>
            <a:ext cx="6490970" cy="460375"/>
          </a:xfrm>
          <a:prstGeom prst="rect">
            <a:avLst/>
          </a:prstGeom>
          <a:ln w="12700" cmpd="sng">
            <a:gradFill>
              <a:gsLst>
                <a:gs pos="0">
                  <a:schemeClr val="bg2">
                    <a:lumMod val="90000"/>
                  </a:schemeClr>
                </a:gs>
                <a:gs pos="74000">
                  <a:schemeClr val="bg2">
                    <a:lumMod val="50000"/>
                  </a:schemeClr>
                </a:gs>
                <a:gs pos="83000">
                  <a:schemeClr val="bg2">
                    <a:lumMod val="5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just"/>
            <a:r>
              <a:rPr lang="en-US" sz="1000" b="1"/>
              <a:t>Node.js</a:t>
            </a:r>
            <a:r>
              <a:rPr lang="en-US" sz="1200"/>
              <a:t> is</a:t>
            </a:r>
            <a:r>
              <a:rPr lang="en-US" sz="1200">
                <a:ln>
                  <a:solidFill>
                    <a:schemeClr val="tx1"/>
                  </a:solidFill>
                </a:ln>
              </a:rPr>
              <a:t> </a:t>
            </a:r>
            <a:r>
              <a:rPr lang="en-US" sz="1200"/>
              <a:t>an open-source Chrome’s Javascript runtime environment – allows you to develop scalable web applications effortlessly.</a:t>
            </a:r>
            <a:endParaRPr lang="en-US" sz="1200"/>
          </a:p>
        </p:txBody>
      </p:sp>
      <p:sp>
        <p:nvSpPr>
          <p:cNvPr id="29" name="Text Box 28"/>
          <p:cNvSpPr txBox="1"/>
          <p:nvPr/>
        </p:nvSpPr>
        <p:spPr>
          <a:xfrm>
            <a:off x="1559560" y="3597910"/>
            <a:ext cx="6497320" cy="645160"/>
          </a:xfrm>
          <a:prstGeom prst="rect">
            <a:avLst/>
          </a:prstGeom>
          <a:ln w="12700" cmpd="sng">
            <a:gradFill>
              <a:gsLst>
                <a:gs pos="0">
                  <a:schemeClr val="bg2">
                    <a:lumMod val="90000"/>
                  </a:schemeClr>
                </a:gs>
                <a:gs pos="74000">
                  <a:schemeClr val="bg2">
                    <a:lumMod val="50000"/>
                  </a:schemeClr>
                </a:gs>
                <a:gs pos="83000">
                  <a:schemeClr val="bg2">
                    <a:lumMod val="5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p>
            <a:pPr lvl="0" algn="just">
              <a:buSzTx/>
            </a:pPr>
            <a:r>
              <a:rPr lang="en-US" sz="1000" b="1">
                <a:sym typeface="+mn-ea"/>
              </a:rPr>
              <a:t>JavaScript</a:t>
            </a:r>
            <a:r>
              <a:rPr lang="en-US" sz="1200">
                <a:sym typeface="+mn-ea"/>
              </a:rPr>
              <a:t> is a light-weight object-oriented programming language that is used by several websites for scripting the webpages. It</a:t>
            </a:r>
            <a:r>
              <a:rPr lang="en-US" sz="1200">
                <a:sym typeface="+mn-ea"/>
              </a:rPr>
              <a:t> is used to create dynamic and interactive web content.</a:t>
            </a:r>
            <a:endParaRPr lang="en-US" sz="1200">
              <a:sym typeface="+mn-ea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1198880" y="4416425"/>
            <a:ext cx="6490970" cy="460375"/>
          </a:xfrm>
          <a:prstGeom prst="rect">
            <a:avLst/>
          </a:prstGeom>
          <a:ln w="12700" cmpd="sng">
            <a:gradFill>
              <a:gsLst>
                <a:gs pos="0">
                  <a:schemeClr val="bg2">
                    <a:lumMod val="90000"/>
                  </a:schemeClr>
                </a:gs>
                <a:gs pos="74000">
                  <a:schemeClr val="bg2">
                    <a:lumMod val="50000"/>
                  </a:schemeClr>
                </a:gs>
                <a:gs pos="83000">
                  <a:schemeClr val="bg2">
                    <a:lumMod val="5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p>
            <a:pPr lvl="0" algn="just">
              <a:buSzTx/>
            </a:pPr>
            <a:r>
              <a:rPr lang="en-US" sz="1000" b="1">
                <a:sym typeface="+mn-ea"/>
              </a:rPr>
              <a:t>Express.js </a:t>
            </a:r>
            <a:r>
              <a:rPr lang="en-IN" altLang="en-US" sz="1200">
                <a:sym typeface="+mn-ea"/>
              </a:rPr>
              <a:t>is</a:t>
            </a:r>
            <a:r>
              <a:rPr lang="en-US" sz="1200">
                <a:sym typeface="+mn-ea"/>
              </a:rPr>
              <a:t> a minimal and flexible Node.js web application framework that provides a robust set of features for web and mobile applications.</a:t>
            </a:r>
            <a:endParaRPr lang="en-US" sz="1200">
              <a:sym typeface="+mn-ea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220345" y="3466465"/>
            <a:ext cx="8591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="1">
                <a:solidFill>
                  <a:srgbClr val="00B050"/>
                </a:solidFill>
              </a:rPr>
              <a:t>Node JS</a:t>
            </a:r>
            <a:endParaRPr lang="en-US" sz="1200" b="1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/>
          <p:nvPr/>
        </p:nvSpPr>
        <p:spPr>
          <a:xfrm>
            <a:off x="2373948" y="173355"/>
            <a:ext cx="4396105" cy="80772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32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Screenshot</a:t>
            </a:r>
            <a:endParaRPr lang="en-IN" altLang="en-US" sz="320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/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3" name="Round Single Corner Rectangle 2"/>
          <p:cNvSpPr/>
          <p:nvPr/>
        </p:nvSpPr>
        <p:spPr>
          <a:xfrm>
            <a:off x="186055" y="1087755"/>
            <a:ext cx="8883650" cy="4065270"/>
          </a:xfrm>
          <a:prstGeom prst="round1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l"/>
            <a:endParaRPr lang="en-US">
              <a:solidFill>
                <a:schemeClr val="bg2"/>
              </a:solidFill>
            </a:endParaRPr>
          </a:p>
        </p:txBody>
      </p:sp>
      <p:pic>
        <p:nvPicPr>
          <p:cNvPr id="1" name="Picture 0" descr="WhatsApp Image 2023"/>
          <p:cNvPicPr>
            <a:picLocks noChangeAspect="1"/>
          </p:cNvPicPr>
          <p:nvPr/>
        </p:nvPicPr>
        <p:blipFill>
          <a:blip r:embed="rId2"/>
          <a:srcRect l="-319" t="12185" r="2215" b="4963"/>
          <a:stretch>
            <a:fillRect/>
          </a:stretch>
        </p:blipFill>
        <p:spPr>
          <a:xfrm>
            <a:off x="294640" y="1136015"/>
            <a:ext cx="3637915" cy="1916430"/>
          </a:xfrm>
          <a:prstGeom prst="snip1Rect">
            <a:avLst/>
          </a:prstGeom>
        </p:spPr>
      </p:pic>
      <p:pic>
        <p:nvPicPr>
          <p:cNvPr id="31" name="Picture 30" descr="WhatsApp Image 2023-04-14 at 13.29.34"/>
          <p:cNvPicPr>
            <a:picLocks noChangeAspect="1"/>
          </p:cNvPicPr>
          <p:nvPr/>
        </p:nvPicPr>
        <p:blipFill>
          <a:blip r:embed="rId3"/>
          <a:srcRect l="69" t="11840" r="882" b="5000"/>
          <a:stretch>
            <a:fillRect/>
          </a:stretch>
        </p:blipFill>
        <p:spPr>
          <a:xfrm>
            <a:off x="294640" y="3130550"/>
            <a:ext cx="3637915" cy="1898015"/>
          </a:xfrm>
          <a:prstGeom prst="snip1Rect">
            <a:avLst/>
          </a:prstGeom>
        </p:spPr>
      </p:pic>
      <p:pic>
        <p:nvPicPr>
          <p:cNvPr id="33" name="Picture 32" descr="WhatsApp Image 2023-04-14 at 13.29"/>
          <p:cNvPicPr>
            <a:picLocks noChangeAspect="1"/>
          </p:cNvPicPr>
          <p:nvPr/>
        </p:nvPicPr>
        <p:blipFill>
          <a:blip r:embed="rId3"/>
          <a:srcRect l="69" t="12136" r="1035" b="6938"/>
          <a:stretch>
            <a:fillRect/>
          </a:stretch>
        </p:blipFill>
        <p:spPr>
          <a:xfrm>
            <a:off x="5280660" y="1136015"/>
            <a:ext cx="3638550" cy="1916430"/>
          </a:xfrm>
          <a:prstGeom prst="snip1Rect">
            <a:avLst/>
          </a:prstGeom>
        </p:spPr>
      </p:pic>
      <p:pic>
        <p:nvPicPr>
          <p:cNvPr id="34" name="Picture 33" descr="WhatsApp Image 2023-04-14 at 13"/>
          <p:cNvPicPr>
            <a:picLocks noChangeAspect="1"/>
          </p:cNvPicPr>
          <p:nvPr/>
        </p:nvPicPr>
        <p:blipFill>
          <a:blip r:embed="rId4"/>
          <a:srcRect t="12000" r="2132" b="4568"/>
          <a:stretch>
            <a:fillRect/>
          </a:stretch>
        </p:blipFill>
        <p:spPr>
          <a:xfrm>
            <a:off x="5281930" y="3109595"/>
            <a:ext cx="3637280" cy="1918970"/>
          </a:xfrm>
          <a:prstGeom prst="snip1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19" name="Google Shape;219;p22"/>
          <p:cNvSpPr/>
          <p:nvPr/>
        </p:nvSpPr>
        <p:spPr>
          <a:xfrm>
            <a:off x="2371408" y="150495"/>
            <a:ext cx="4401185" cy="723265"/>
          </a:xfrm>
          <a:prstGeom prst="snip2DiagRect">
            <a:avLst>
              <a:gd name="adj1" fmla="val 0"/>
              <a:gd name="adj2" fmla="val 16667"/>
            </a:avLst>
          </a:pr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2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Conclusion</a:t>
            </a:r>
            <a:endParaRPr lang="en-GB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2" name="Round Single Corner Rectangle 1"/>
          <p:cNvSpPr/>
          <p:nvPr/>
        </p:nvSpPr>
        <p:spPr>
          <a:xfrm>
            <a:off x="1009650" y="1351280"/>
            <a:ext cx="7124700" cy="3312160"/>
          </a:xfrm>
          <a:prstGeom prst="round1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/>
                </a:solidFill>
                <a:latin typeface="Oswald Light"/>
                <a:ea typeface="Oswald Light"/>
                <a:cs typeface="Oswald Light"/>
                <a:sym typeface="Oswald Light"/>
              </a:rPr>
              <a:t>The confession app is designed to allow users to submit anonymous confessions and to read and react to the confessions of others.</a:t>
            </a:r>
            <a:endParaRPr sz="1600">
              <a:solidFill>
                <a:schemeClr val="tx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/>
                </a:solidFill>
                <a:latin typeface="Oswald Light"/>
                <a:ea typeface="Oswald Light"/>
                <a:cs typeface="Oswald Light"/>
                <a:sym typeface="Oswald Light"/>
              </a:rPr>
              <a:t>Anonymous Confession Submission</a:t>
            </a:r>
            <a:endParaRPr sz="1600">
              <a:solidFill>
                <a:schemeClr val="tx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/>
                </a:solidFill>
                <a:latin typeface="Oswald Light"/>
                <a:ea typeface="Oswald Light"/>
                <a:cs typeface="Oswald Light"/>
              </a:rPr>
              <a:t>User Profile</a:t>
            </a:r>
            <a:endParaRPr sz="1600">
              <a:solidFill>
                <a:schemeClr val="tx1"/>
              </a:solidFill>
              <a:latin typeface="Oswald Light"/>
              <a:ea typeface="Oswald Light"/>
              <a:cs typeface="Oswald Light"/>
            </a:endParaRPr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/>
                </a:solidFill>
                <a:latin typeface="Oswald Light"/>
                <a:ea typeface="Oswald Light"/>
                <a:cs typeface="Oswald Light"/>
              </a:rPr>
              <a:t>Confession Feed</a:t>
            </a:r>
            <a:endParaRPr sz="1600">
              <a:solidFill>
                <a:schemeClr val="tx1"/>
              </a:solidFill>
              <a:latin typeface="Oswald Light"/>
              <a:ea typeface="Oswald Light"/>
              <a:cs typeface="Oswald Light"/>
            </a:endParaRPr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/>
                </a:solidFill>
                <a:latin typeface="Oswald Light"/>
                <a:ea typeface="Oswald Light"/>
                <a:cs typeface="Oswald Light"/>
              </a:rPr>
              <a:t>Commenting System</a:t>
            </a:r>
            <a:endParaRPr sz="1600">
              <a:solidFill>
                <a:schemeClr val="tx1"/>
              </a:solidFill>
              <a:latin typeface="Oswald Light"/>
              <a:ea typeface="Oswald Light"/>
              <a:cs typeface="Oswald Light"/>
            </a:endParaRPr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/>
                </a:solidFill>
                <a:latin typeface="Oswald Light"/>
                <a:ea typeface="Oswald Light"/>
                <a:cs typeface="Oswald Light"/>
              </a:rPr>
              <a:t>Search Functionality</a:t>
            </a:r>
            <a:endParaRPr sz="1600">
              <a:solidFill>
                <a:schemeClr val="tx1"/>
              </a:solidFill>
              <a:latin typeface="Oswald Light"/>
              <a:ea typeface="Oswald Light"/>
              <a:cs typeface="Oswald Light"/>
            </a:endParaRPr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/>
                </a:solidFill>
                <a:latin typeface="Oswald Light"/>
                <a:ea typeface="Oswald Light"/>
                <a:cs typeface="Oswald Light"/>
              </a:rPr>
              <a:t>Reporting Functionality</a:t>
            </a:r>
            <a:endParaRPr sz="1600">
              <a:solidFill>
                <a:schemeClr val="tx1"/>
              </a:solidFill>
              <a:latin typeface="Oswald Light"/>
              <a:ea typeface="Oswald Light"/>
              <a:cs typeface="Oswald Light"/>
            </a:endParaRPr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/>
                </a:solidFill>
                <a:latin typeface="Oswald Light"/>
                <a:ea typeface="Oswald Light"/>
                <a:cs typeface="Oswald Light"/>
              </a:rPr>
              <a:t>Admin Dashboard</a:t>
            </a:r>
            <a:endParaRPr sz="1600">
              <a:solidFill>
                <a:schemeClr val="tx1"/>
              </a:solidFill>
              <a:latin typeface="Oswald Light"/>
              <a:ea typeface="Oswald Light"/>
              <a:cs typeface="Oswald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19" name="Google Shape;219;p22"/>
          <p:cNvSpPr/>
          <p:nvPr/>
        </p:nvSpPr>
        <p:spPr>
          <a:xfrm>
            <a:off x="2371408" y="150495"/>
            <a:ext cx="4401185" cy="723265"/>
          </a:xfrm>
          <a:prstGeom prst="snip2DiagRect">
            <a:avLst>
              <a:gd name="adj1" fmla="val 0"/>
              <a:gd name="adj2" fmla="val 16667"/>
            </a:avLst>
          </a:pr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32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Scope</a:t>
            </a:r>
            <a:endParaRPr lang="en-IN" altLang="en-US" sz="320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/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2" name="Round Single Corner Rectangle 1"/>
          <p:cNvSpPr/>
          <p:nvPr/>
        </p:nvSpPr>
        <p:spPr>
          <a:xfrm>
            <a:off x="1009650" y="1351280"/>
            <a:ext cx="7124700" cy="3312160"/>
          </a:xfrm>
          <a:prstGeom prst="round1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>
                <a:solidFill>
                  <a:schemeClr val="tx1"/>
                </a:solidFill>
                <a:latin typeface="Oswald Light"/>
                <a:ea typeface="Oswald Light"/>
                <a:cs typeface="Oswald Light"/>
                <a:sym typeface="Oswald Light"/>
              </a:rPr>
              <a:t>There is always a room for improvement in any application but most important thing should be flexible to accept further modification right now we are just </a:t>
            </a:r>
            <a:r>
              <a:rPr lang="en-IN" altLang="en-GB" sz="1600">
                <a:solidFill>
                  <a:schemeClr val="tx1"/>
                </a:solidFill>
                <a:latin typeface="Oswald Light"/>
                <a:ea typeface="Oswald Light"/>
                <a:cs typeface="Oswald Light"/>
                <a:sym typeface="Oswald Light"/>
              </a:rPr>
              <a:t>dealing with authentication, roles, state management.</a:t>
            </a:r>
            <a:endParaRPr sz="1600">
              <a:solidFill>
                <a:schemeClr val="tx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28575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>
                <a:solidFill>
                  <a:schemeClr val="tx1"/>
                </a:solidFill>
                <a:latin typeface="Oswald Light"/>
                <a:ea typeface="Oswald Light"/>
                <a:cs typeface="Oswald Light"/>
                <a:sym typeface="Oswald Light"/>
              </a:rPr>
              <a:t>In future this application may be extended to include features such as:</a:t>
            </a:r>
            <a:endParaRPr lang="en-GB" sz="1600">
              <a:solidFill>
                <a:schemeClr val="tx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28575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600">
                <a:solidFill>
                  <a:schemeClr val="tx1"/>
                </a:solidFill>
                <a:latin typeface="Oswald Light"/>
                <a:ea typeface="Oswald Light"/>
                <a:cs typeface="Oswald Light"/>
              </a:rPr>
              <a:t>We can enable to post photo too.</a:t>
            </a:r>
            <a:endParaRPr lang="en-IN" altLang="en-GB" sz="1600">
              <a:solidFill>
                <a:schemeClr val="tx1"/>
              </a:solidFill>
              <a:latin typeface="Oswald Light"/>
              <a:ea typeface="Oswald Light"/>
              <a:cs typeface="Oswald Light"/>
            </a:endParaRPr>
          </a:p>
          <a:p>
            <a:pPr marL="28575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600">
                <a:solidFill>
                  <a:schemeClr val="tx1"/>
                </a:solidFill>
                <a:latin typeface="Oswald Light"/>
                <a:ea typeface="Oswald Light"/>
                <a:cs typeface="Oswald Light"/>
              </a:rPr>
              <a:t>Anonymous comment.</a:t>
            </a:r>
            <a:endParaRPr lang="en-IN" altLang="en-GB" sz="1600">
              <a:solidFill>
                <a:schemeClr val="tx1"/>
              </a:solidFill>
              <a:latin typeface="Oswald Light"/>
              <a:ea typeface="Oswald Light"/>
              <a:cs typeface="Oswald Light"/>
            </a:endParaRPr>
          </a:p>
          <a:p>
            <a:pPr marL="28575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600">
                <a:solidFill>
                  <a:schemeClr val="tx1"/>
                </a:solidFill>
                <a:latin typeface="Oswald Light"/>
                <a:ea typeface="Oswald Light"/>
                <a:cs typeface="Oswald Light"/>
              </a:rPr>
              <a:t>Expand Platform Support:</a:t>
            </a:r>
            <a:endParaRPr lang="en-IN" altLang="en-GB" sz="1600">
              <a:solidFill>
                <a:schemeClr val="tx1"/>
              </a:solidFill>
              <a:latin typeface="Oswald Light"/>
              <a:ea typeface="Oswald Light"/>
              <a:cs typeface="Oswald Light"/>
            </a:endParaRPr>
          </a:p>
          <a:p>
            <a:pPr marL="28575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600">
                <a:solidFill>
                  <a:schemeClr val="tx1"/>
                </a:solidFill>
                <a:latin typeface="Oswald Light"/>
                <a:ea typeface="Oswald Light"/>
                <a:cs typeface="Oswald Light"/>
              </a:rPr>
              <a:t>Anonymous Chat Functionality</a:t>
            </a:r>
            <a:endParaRPr lang="en-IN" altLang="en-GB" sz="1600">
              <a:solidFill>
                <a:schemeClr val="tx1"/>
              </a:solidFill>
              <a:latin typeface="Oswald Light"/>
              <a:ea typeface="Oswald Light"/>
              <a:cs typeface="Oswald Light"/>
            </a:endParaRPr>
          </a:p>
          <a:p>
            <a:pPr marL="28575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600">
                <a:solidFill>
                  <a:schemeClr val="tx1"/>
                </a:solidFill>
                <a:latin typeface="Oswald Light"/>
                <a:ea typeface="Oswald Light"/>
                <a:cs typeface="Oswald Light"/>
              </a:rPr>
              <a:t>Advanced Search</a:t>
            </a:r>
            <a:endParaRPr lang="en-IN" altLang="en-GB" sz="1600">
              <a:solidFill>
                <a:schemeClr val="tx1"/>
              </a:solidFill>
              <a:latin typeface="Oswald Light"/>
              <a:ea typeface="Oswald Light"/>
              <a:cs typeface="Oswald Light"/>
            </a:endParaRPr>
          </a:p>
          <a:p>
            <a:pPr marL="28575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600">
                <a:solidFill>
                  <a:schemeClr val="tx1"/>
                </a:solidFill>
                <a:latin typeface="Oswald Light"/>
                <a:ea typeface="Oswald Light"/>
                <a:cs typeface="Oswald Light"/>
              </a:rPr>
              <a:t>Improved User Interface</a:t>
            </a:r>
            <a:endParaRPr lang="en-IN" altLang="en-GB" sz="1600">
              <a:solidFill>
                <a:schemeClr val="tx1"/>
              </a:solidFill>
              <a:latin typeface="Oswald Light"/>
              <a:ea typeface="Oswald Light"/>
              <a:cs typeface="Oswald Light"/>
            </a:endParaRPr>
          </a:p>
          <a:p>
            <a:pPr marL="28575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altLang="en-GB" sz="1600">
                <a:solidFill>
                  <a:schemeClr val="tx1"/>
                </a:solidFill>
                <a:latin typeface="Oswald Light"/>
                <a:ea typeface="Oswald Light"/>
                <a:cs typeface="Oswald Light"/>
              </a:rPr>
              <a:t>Integration with Mental Health Resources</a:t>
            </a:r>
            <a:endParaRPr lang="en-IN" altLang="en-GB" sz="1600">
              <a:solidFill>
                <a:schemeClr val="tx1"/>
              </a:solidFill>
              <a:latin typeface="Oswald Light"/>
              <a:ea typeface="Oswald Light"/>
              <a:cs typeface="Oswald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33" name="Google Shape;233;p24"/>
          <p:cNvSpPr/>
          <p:nvPr/>
        </p:nvSpPr>
        <p:spPr>
          <a:xfrm>
            <a:off x="1758315" y="1610995"/>
            <a:ext cx="5627370" cy="1921510"/>
          </a:xfrm>
          <a:prstGeom prst="snip2DiagRect">
            <a:avLst>
              <a:gd name="adj1" fmla="val 0"/>
              <a:gd name="adj2" fmla="val 16667"/>
            </a:avLst>
          </a:prstGeom>
          <a:noFill/>
          <a:ln w="28575" cap="flat" cmpd="dbl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480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latin typeface="Playfair Display SemiBold"/>
                <a:ea typeface="Playfair Display SemiBold"/>
                <a:cs typeface="Playfair Display SemiBold"/>
                <a:sym typeface="Playfair Display Black"/>
              </a:rPr>
              <a:t>THANK YOU</a:t>
            </a:r>
            <a:endParaRPr lang="en-US" altLang="en-GB" sz="4800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/>
              <a:latin typeface="Playfair Display SemiBold"/>
              <a:ea typeface="Playfair Display SemiBold"/>
              <a:cs typeface="Playfair Display SemiBold"/>
              <a:sym typeface="Playfair Display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 bldLvl="0" animBg="1"/>
    </p:bldLst>
  </p:timing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3859</Words>
  <Application>WPS Presentation</Application>
  <PresentationFormat/>
  <Paragraphs>133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Arial</vt:lpstr>
      <vt:lpstr>Montserrat</vt:lpstr>
      <vt:lpstr>Lato</vt:lpstr>
      <vt:lpstr>Times New Roman</vt:lpstr>
      <vt:lpstr>Playfair Display SemiBold</vt:lpstr>
      <vt:lpstr>Oswald Light</vt:lpstr>
      <vt:lpstr>Playfair Display Black</vt:lpstr>
      <vt:lpstr>Microsoft YaHei</vt:lpstr>
      <vt:lpstr>Arial Unicode MS</vt:lpstr>
      <vt:lpstr>Focus</vt:lpstr>
      <vt:lpstr>B.Tech.  In Computer Science and Engineering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Clone</dc:title>
  <dc:creator/>
  <cp:lastModifiedBy>Gyanendra Kumar</cp:lastModifiedBy>
  <cp:revision>39</cp:revision>
  <dcterms:created xsi:type="dcterms:W3CDTF">2022-04-26T09:45:00Z</dcterms:created>
  <dcterms:modified xsi:type="dcterms:W3CDTF">2023-04-16T15:24:09Z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1033-11.2.0.11516</vt:lpwstr>
  </property>
  <property fmtid="{D5CDD505-2E9C-101B-9397-08002B2CF9AE}" pid="3" name="ICV">
    <vt:lpwstr>82CABDA22F2A43F7A23C4B2F9667C6B1</vt:lpwstr>
  </property>
</Properties>
</file>